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96" d="100"/>
          <a:sy n="96" d="100"/>
        </p:scale>
        <p:origin x="504" y="56"/>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9/10/2026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9/10/2026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9/10/2026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9/10/2026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675957" y="3583914"/>
            <a:ext cx="9183660" cy="861497"/>
          </a:xfrm>
        </p:spPr>
        <p:txBody>
          <a:bodyPr vert="horz" lIns="91440" tIns="45720" rIns="91440" bIns="45720" rtlCol="0" anchor="t">
            <a:normAutofit fontScale="92500"/>
          </a:bodyPr>
          <a:lstStyle/>
          <a:p>
            <a:r>
              <a:rPr lang="en-US" b="0" dirty="0">
                <a:solidFill>
                  <a:schemeClr val="tx1"/>
                </a:solidFill>
              </a:rPr>
              <a:t>[Student Name – Siddh </a:t>
            </a:r>
            <a:r>
              <a:rPr lang="en-US" b="0" dirty="0" err="1">
                <a:solidFill>
                  <a:schemeClr val="tx1"/>
                </a:solidFill>
              </a:rPr>
              <a:t>Jitendrabhai</a:t>
            </a:r>
            <a:r>
              <a:rPr lang="en-US" b="0" dirty="0">
                <a:solidFill>
                  <a:schemeClr val="tx1"/>
                </a:solidFill>
              </a:rPr>
              <a:t> Patel </a:t>
            </a:r>
            <a:endParaRPr lang="en-IN" b="0" dirty="0">
              <a:solidFill>
                <a:schemeClr val="tx1"/>
              </a:solidFill>
            </a:endParaRPr>
          </a:p>
          <a:p>
            <a:r>
              <a:rPr lang="en-US" b="0" dirty="0">
                <a:solidFill>
                  <a:schemeClr val="tx1"/>
                </a:solidFill>
              </a:rPr>
              <a:t>College Name- Krishna School of Emerging Technology &amp; Applied Research (KPGU)]</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4" y="2844750"/>
            <a:ext cx="10281184" cy="743448"/>
          </a:xfrm>
        </p:spPr>
        <p:txBody>
          <a:bodyPr>
            <a:normAutofit fontScale="90000"/>
          </a:bodyPr>
          <a:lstStyle/>
          <a:p>
            <a:r>
              <a:rPr lang="en-GB" sz="3200" dirty="0"/>
              <a:t>Project Title - </a:t>
            </a:r>
            <a:r>
              <a:rPr lang="en-US" sz="3200" dirty="0"/>
              <a:t>Seasonal Agriculture Performance Analysis</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957406" y="4576469"/>
            <a:ext cx="5595794" cy="369332"/>
          </a:xfrm>
          <a:prstGeom prst="rect">
            <a:avLst/>
          </a:prstGeom>
          <a:noFill/>
        </p:spPr>
        <p:txBody>
          <a:bodyPr wrap="square" rtlCol="0">
            <a:spAutoFit/>
          </a:bodyPr>
          <a:lstStyle/>
          <a:p>
            <a:r>
              <a:rPr lang="en-US" b="1" dirty="0"/>
              <a:t>AICTE STU ID : (STU6a6cb002979181785507842)</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754603" y="1663147"/>
            <a:ext cx="7528006" cy="4644435"/>
          </a:xfrm>
        </p:spPr>
        <p:txBody>
          <a:bodyPr vert="horz" lIns="91440" tIns="45720" rIns="91440" bIns="45720" rtlCol="0" anchor="t">
            <a:normAutofit fontScale="85000" lnSpcReduction="20000"/>
          </a:bodyPr>
          <a:lstStyle/>
          <a:p>
            <a:pPr marL="0" indent="0" algn="just">
              <a:lnSpc>
                <a:spcPct val="100000"/>
              </a:lnSpc>
              <a:buNone/>
            </a:pPr>
            <a:r>
              <a:rPr lang="en-US"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 </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Description</a:t>
            </a: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4" name="TextBox 3">
            <a:extLst>
              <a:ext uri="{FF2B5EF4-FFF2-40B4-BE49-F238E27FC236}">
                <a16:creationId xmlns:a16="http://schemas.microsoft.com/office/drawing/2014/main" id="{44A39FCC-8F72-32FD-A6D8-61A9492009AF}"/>
              </a:ext>
            </a:extLst>
          </p:cNvPr>
          <p:cNvSpPr txBox="1"/>
          <p:nvPr/>
        </p:nvSpPr>
        <p:spPr>
          <a:xfrm>
            <a:off x="927653" y="2014331"/>
            <a:ext cx="7977808" cy="2585323"/>
          </a:xfrm>
          <a:prstGeom prst="rect">
            <a:avLst/>
          </a:prstGeom>
          <a:noFill/>
        </p:spPr>
        <p:txBody>
          <a:bodyPr wrap="square" rtlCol="0">
            <a:spAutoFit/>
          </a:bodyPr>
          <a:lstStyle/>
          <a:p>
            <a:r>
              <a:rPr lang="en-US" b="1" dirty="0"/>
              <a:t>Seasonal Agriculture Performance Analysis is a data analytics project focused on understanding agricultural activities across different seasons, geographical areas and farming conditions.</a:t>
            </a:r>
          </a:p>
          <a:p>
            <a:endParaRPr lang="en-US" b="1" dirty="0"/>
          </a:p>
          <a:p>
            <a:r>
              <a:rPr lang="en-US" b="1" dirty="0"/>
              <a:t>The project involves exploring and cleaning the agricultural dataset, comparing seasonal performance, identifying trends and relationships, examining resource usage and economic outcomes, and presenting evidence-based insights through statistical analysis and data visualization.</a:t>
            </a: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fontScale="47500" lnSpcReduction="20000"/>
          </a:bodyPr>
          <a:lstStyle/>
          <a:p>
            <a:pPr algn="just">
              <a:lnSpc>
                <a:spcPct val="150000"/>
              </a:lnSpc>
            </a:pPr>
            <a:r>
              <a:rPr lang="en-US" sz="3600" dirty="0"/>
              <a:t>Farmers - understand seasonal changes and improve planning.</a:t>
            </a:r>
          </a:p>
          <a:p>
            <a:pPr algn="just">
              <a:lnSpc>
                <a:spcPct val="150000"/>
              </a:lnSpc>
            </a:pPr>
            <a:r>
              <a:rPr lang="en-US" sz="3600" dirty="0"/>
              <a:t>Agricultural planners - compare performance across seasons and regions.</a:t>
            </a:r>
          </a:p>
          <a:p>
            <a:pPr algn="just">
              <a:lnSpc>
                <a:spcPct val="150000"/>
              </a:lnSpc>
            </a:pPr>
            <a:r>
              <a:rPr lang="en-US" sz="3600" dirty="0"/>
              <a:t>Agricultural stakeholders - understand resource usage and seasonal outcomes.</a:t>
            </a:r>
          </a:p>
          <a:p>
            <a:pPr algn="just">
              <a:lnSpc>
                <a:spcPct val="150000"/>
              </a:lnSpc>
            </a:pPr>
            <a:r>
              <a:rPr lang="en-US" sz="3600" dirty="0"/>
              <a:t> Analysts / Researchers - identify trends, relationships and unusual patterns.</a:t>
            </a:r>
          </a:p>
          <a:p>
            <a:pPr algn="just">
              <a:lnSpc>
                <a:spcPct val="150000"/>
              </a:lnSpc>
            </a:pPr>
            <a:r>
              <a:rPr lang="en-US" sz="3600" dirty="0"/>
              <a:t>Decision makers - use data-driven insights for better seasonal agricultural planning.</a:t>
            </a: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1432560"/>
            <a:ext cx="9027702" cy="5243448"/>
          </a:xfrm>
        </p:spPr>
        <p:txBody>
          <a:bodyPr/>
          <a:lstStyle/>
          <a:p>
            <a:pPr lvl="1">
              <a:lnSpc>
                <a:spcPct val="150000"/>
              </a:lnSpc>
            </a:pPr>
            <a:r>
              <a:rPr lang="en-IN" dirty="0"/>
              <a:t>Python - data analysis and processing</a:t>
            </a:r>
          </a:p>
          <a:p>
            <a:pPr lvl="1">
              <a:lnSpc>
                <a:spcPct val="150000"/>
              </a:lnSpc>
            </a:pPr>
            <a:r>
              <a:rPr lang="en-IN" dirty="0"/>
              <a:t> Google </a:t>
            </a:r>
            <a:r>
              <a:rPr lang="en-IN" dirty="0" err="1"/>
              <a:t>colab</a:t>
            </a:r>
            <a:r>
              <a:rPr lang="en-IN" dirty="0"/>
              <a:t> - documenting the complete analysis</a:t>
            </a:r>
          </a:p>
          <a:p>
            <a:pPr lvl="1">
              <a:lnSpc>
                <a:spcPct val="150000"/>
              </a:lnSpc>
            </a:pPr>
            <a:r>
              <a:rPr lang="en-IN" dirty="0"/>
              <a:t> Pandas - data cleaning and manipulation</a:t>
            </a:r>
          </a:p>
          <a:p>
            <a:pPr lvl="1">
              <a:lnSpc>
                <a:spcPct val="150000"/>
              </a:lnSpc>
            </a:pPr>
            <a:r>
              <a:rPr lang="en-IN" dirty="0"/>
              <a:t> NumPy - numerical analysis</a:t>
            </a:r>
          </a:p>
          <a:p>
            <a:pPr lvl="1">
              <a:lnSpc>
                <a:spcPct val="150000"/>
              </a:lnSpc>
            </a:pPr>
            <a:r>
              <a:rPr lang="en-IN" dirty="0"/>
              <a:t> Matplotlib/Seaborn - data visualization</a:t>
            </a:r>
          </a:p>
          <a:p>
            <a:pPr lvl="1">
              <a:lnSpc>
                <a:spcPct val="150000"/>
              </a:lnSpc>
            </a:pPr>
            <a:r>
              <a:rPr lang="en-IN" dirty="0"/>
              <a:t>Statistical analysis - identifying seasonal differences, trends</a:t>
            </a:r>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19D8AC7-3787-4ADB-9212-0808F015C2DD}"/>
              </a:ext>
            </a:extLst>
          </p:cNvPr>
          <p:cNvSpPr>
            <a:spLocks noGrp="1"/>
          </p:cNvSpPr>
          <p:nvPr>
            <p:ph type="body" sz="quarter" idx="12"/>
          </p:nvPr>
        </p:nvSpPr>
        <p:spPr>
          <a:xfrm>
            <a:off x="807164" y="1431692"/>
            <a:ext cx="3638940" cy="3584256"/>
          </a:xfrm>
        </p:spPr>
        <p:txBody>
          <a:bodyPr vert="horz" lIns="91440" tIns="45720" rIns="91440" bIns="45720" rtlCol="0" anchor="t">
            <a:normAutofit fontScale="92500" lnSpcReduction="10000"/>
          </a:bodyPr>
          <a:lstStyle/>
          <a:p>
            <a:r>
              <a:rPr lang="en-US" dirty="0"/>
              <a:t>We compare the main performance indicators:</a:t>
            </a:r>
          </a:p>
          <a:p>
            <a:pPr lvl="0"/>
            <a:r>
              <a:rPr lang="en-US" dirty="0"/>
              <a:t>Yield</a:t>
            </a:r>
          </a:p>
          <a:p>
            <a:pPr lvl="0"/>
            <a:r>
              <a:rPr lang="en-US" dirty="0"/>
              <a:t>Production</a:t>
            </a:r>
          </a:p>
          <a:p>
            <a:pPr lvl="0"/>
            <a:r>
              <a:rPr lang="en-US" dirty="0"/>
              <a:t>Revenue</a:t>
            </a:r>
          </a:p>
          <a:p>
            <a:pPr lvl="0"/>
            <a:r>
              <a:rPr lang="en-US" dirty="0"/>
              <a:t>Cost</a:t>
            </a:r>
          </a:p>
          <a:p>
            <a:pPr lvl="0"/>
            <a:r>
              <a:rPr lang="en-US" dirty="0"/>
              <a:t>Profit</a:t>
            </a:r>
          </a:p>
          <a:p>
            <a:pPr lvl="0"/>
            <a:r>
              <a:rPr lang="en-US" dirty="0"/>
              <a:t>Water efficiency</a:t>
            </a:r>
          </a:p>
          <a:p>
            <a:pPr lvl="0"/>
            <a:r>
              <a:rPr lang="en-US" dirty="0"/>
              <a:t>Disease/pest risk</a:t>
            </a:r>
          </a:p>
          <a:p>
            <a:pPr marL="0" indent="0">
              <a:buNone/>
            </a:pPr>
            <a:endParaRPr lang="en-IN" dirty="0"/>
          </a:p>
        </p:txBody>
      </p:sp>
      <p:pic>
        <p:nvPicPr>
          <p:cNvPr id="3" name="Picture 2">
            <a:extLst>
              <a:ext uri="{FF2B5EF4-FFF2-40B4-BE49-F238E27FC236}">
                <a16:creationId xmlns:a16="http://schemas.microsoft.com/office/drawing/2014/main" id="{64BAFC0D-656D-BBC0-90CE-06FF4D0401F1}"/>
              </a:ext>
            </a:extLst>
          </p:cNvPr>
          <p:cNvPicPr>
            <a:picLocks noChangeAspect="1"/>
          </p:cNvPicPr>
          <p:nvPr/>
        </p:nvPicPr>
        <p:blipFill>
          <a:blip r:embed="rId3"/>
          <a:stretch>
            <a:fillRect/>
          </a:stretch>
        </p:blipFill>
        <p:spPr>
          <a:xfrm>
            <a:off x="807164" y="4837976"/>
            <a:ext cx="9369287" cy="1489306"/>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xEl>
                                              <p:pRg st="2" end="2"/>
                                            </p:txEl>
                                          </p:spTgt>
                                        </p:tgtEl>
                                        <p:attrNameLst>
                                          <p:attrName>style.visibility</p:attrName>
                                        </p:attrNameLst>
                                      </p:cBhvr>
                                      <p:to>
                                        <p:strVal val="visible"/>
                                      </p:to>
                                    </p:set>
                                    <p:animEffect transition="in" filter="fade">
                                      <p:cBhvr>
                                        <p:cTn id="42" dur="1000"/>
                                        <p:tgtEl>
                                          <p:spTgt spid="10">
                                            <p:txEl>
                                              <p:pRg st="2" end="2"/>
                                            </p:txEl>
                                          </p:spTgt>
                                        </p:tgtEl>
                                      </p:cBhvr>
                                    </p:animEffect>
                                    <p:anim calcmode="lin" valueType="num">
                                      <p:cBhvr>
                                        <p:cTn id="43"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44"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0">
                                            <p:txEl>
                                              <p:pRg st="3" end="3"/>
                                            </p:txEl>
                                          </p:spTgt>
                                        </p:tgtEl>
                                        <p:attrNameLst>
                                          <p:attrName>style.visibility</p:attrName>
                                        </p:attrNameLst>
                                      </p:cBhvr>
                                      <p:to>
                                        <p:strVal val="visible"/>
                                      </p:to>
                                    </p:set>
                                    <p:animEffect transition="in" filter="fade">
                                      <p:cBhvr>
                                        <p:cTn id="49" dur="1000"/>
                                        <p:tgtEl>
                                          <p:spTgt spid="10">
                                            <p:txEl>
                                              <p:pRg st="3" end="3"/>
                                            </p:txEl>
                                          </p:spTgt>
                                        </p:tgtEl>
                                      </p:cBhvr>
                                    </p:animEffect>
                                    <p:anim calcmode="lin" valueType="num">
                                      <p:cBhvr>
                                        <p:cTn id="50"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51" dur="1000" fill="hold"/>
                                        <p:tgtEl>
                                          <p:spTgt spid="10">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10">
                                            <p:txEl>
                                              <p:pRg st="4" end="4"/>
                                            </p:txEl>
                                          </p:spTgt>
                                        </p:tgtEl>
                                        <p:attrNameLst>
                                          <p:attrName>style.visibility</p:attrName>
                                        </p:attrNameLst>
                                      </p:cBhvr>
                                      <p:to>
                                        <p:strVal val="visible"/>
                                      </p:to>
                                    </p:set>
                                    <p:animEffect transition="in" filter="fade">
                                      <p:cBhvr>
                                        <p:cTn id="56" dur="1000"/>
                                        <p:tgtEl>
                                          <p:spTgt spid="10">
                                            <p:txEl>
                                              <p:pRg st="4" end="4"/>
                                            </p:txEl>
                                          </p:spTgt>
                                        </p:tgtEl>
                                      </p:cBhvr>
                                    </p:animEffect>
                                    <p:anim calcmode="lin" valueType="num">
                                      <p:cBhvr>
                                        <p:cTn id="57" dur="1000" fill="hold"/>
                                        <p:tgtEl>
                                          <p:spTgt spid="10">
                                            <p:txEl>
                                              <p:pRg st="4" end="4"/>
                                            </p:txEl>
                                          </p:spTgt>
                                        </p:tgtEl>
                                        <p:attrNameLst>
                                          <p:attrName>ppt_x</p:attrName>
                                        </p:attrNameLst>
                                      </p:cBhvr>
                                      <p:tavLst>
                                        <p:tav tm="0">
                                          <p:val>
                                            <p:strVal val="#ppt_x"/>
                                          </p:val>
                                        </p:tav>
                                        <p:tav tm="100000">
                                          <p:val>
                                            <p:strVal val="#ppt_x"/>
                                          </p:val>
                                        </p:tav>
                                      </p:tavLst>
                                    </p:anim>
                                    <p:anim calcmode="lin" valueType="num">
                                      <p:cBhvr>
                                        <p:cTn id="58" dur="1000" fill="hold"/>
                                        <p:tgtEl>
                                          <p:spTgt spid="10">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10">
                                            <p:txEl>
                                              <p:pRg st="5" end="5"/>
                                            </p:txEl>
                                          </p:spTgt>
                                        </p:tgtEl>
                                        <p:attrNameLst>
                                          <p:attrName>style.visibility</p:attrName>
                                        </p:attrNameLst>
                                      </p:cBhvr>
                                      <p:to>
                                        <p:strVal val="visible"/>
                                      </p:to>
                                    </p:set>
                                    <p:animEffect transition="in" filter="fade">
                                      <p:cBhvr>
                                        <p:cTn id="63" dur="1000"/>
                                        <p:tgtEl>
                                          <p:spTgt spid="10">
                                            <p:txEl>
                                              <p:pRg st="5" end="5"/>
                                            </p:txEl>
                                          </p:spTgt>
                                        </p:tgtEl>
                                      </p:cBhvr>
                                    </p:animEffect>
                                    <p:anim calcmode="lin" valueType="num">
                                      <p:cBhvr>
                                        <p:cTn id="64" dur="1000" fill="hold"/>
                                        <p:tgtEl>
                                          <p:spTgt spid="10">
                                            <p:txEl>
                                              <p:pRg st="5" end="5"/>
                                            </p:txEl>
                                          </p:spTgt>
                                        </p:tgtEl>
                                        <p:attrNameLst>
                                          <p:attrName>ppt_x</p:attrName>
                                        </p:attrNameLst>
                                      </p:cBhvr>
                                      <p:tavLst>
                                        <p:tav tm="0">
                                          <p:val>
                                            <p:strVal val="#ppt_x"/>
                                          </p:val>
                                        </p:tav>
                                        <p:tav tm="100000">
                                          <p:val>
                                            <p:strVal val="#ppt_x"/>
                                          </p:val>
                                        </p:tav>
                                      </p:tavLst>
                                    </p:anim>
                                    <p:anim calcmode="lin" valueType="num">
                                      <p:cBhvr>
                                        <p:cTn id="65" dur="1000" fill="hold"/>
                                        <p:tgtEl>
                                          <p:spTgt spid="10">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10">
                                            <p:txEl>
                                              <p:pRg st="6" end="6"/>
                                            </p:txEl>
                                          </p:spTgt>
                                        </p:tgtEl>
                                        <p:attrNameLst>
                                          <p:attrName>style.visibility</p:attrName>
                                        </p:attrNameLst>
                                      </p:cBhvr>
                                      <p:to>
                                        <p:strVal val="visible"/>
                                      </p:to>
                                    </p:set>
                                    <p:animEffect transition="in" filter="fade">
                                      <p:cBhvr>
                                        <p:cTn id="70" dur="1000"/>
                                        <p:tgtEl>
                                          <p:spTgt spid="10">
                                            <p:txEl>
                                              <p:pRg st="6" end="6"/>
                                            </p:txEl>
                                          </p:spTgt>
                                        </p:tgtEl>
                                      </p:cBhvr>
                                    </p:animEffect>
                                    <p:anim calcmode="lin" valueType="num">
                                      <p:cBhvr>
                                        <p:cTn id="71" dur="1000" fill="hold"/>
                                        <p:tgtEl>
                                          <p:spTgt spid="10">
                                            <p:txEl>
                                              <p:pRg st="6" end="6"/>
                                            </p:txEl>
                                          </p:spTgt>
                                        </p:tgtEl>
                                        <p:attrNameLst>
                                          <p:attrName>ppt_x</p:attrName>
                                        </p:attrNameLst>
                                      </p:cBhvr>
                                      <p:tavLst>
                                        <p:tav tm="0">
                                          <p:val>
                                            <p:strVal val="#ppt_x"/>
                                          </p:val>
                                        </p:tav>
                                        <p:tav tm="100000">
                                          <p:val>
                                            <p:strVal val="#ppt_x"/>
                                          </p:val>
                                        </p:tav>
                                      </p:tavLst>
                                    </p:anim>
                                    <p:anim calcmode="lin" valueType="num">
                                      <p:cBhvr>
                                        <p:cTn id="72" dur="1000" fill="hold"/>
                                        <p:tgtEl>
                                          <p:spTgt spid="10">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10">
                                            <p:txEl>
                                              <p:pRg st="7" end="7"/>
                                            </p:txEl>
                                          </p:spTgt>
                                        </p:tgtEl>
                                        <p:attrNameLst>
                                          <p:attrName>style.visibility</p:attrName>
                                        </p:attrNameLst>
                                      </p:cBhvr>
                                      <p:to>
                                        <p:strVal val="visible"/>
                                      </p:to>
                                    </p:set>
                                    <p:animEffect transition="in" filter="fade">
                                      <p:cBhvr>
                                        <p:cTn id="77" dur="1000"/>
                                        <p:tgtEl>
                                          <p:spTgt spid="10">
                                            <p:txEl>
                                              <p:pRg st="7" end="7"/>
                                            </p:txEl>
                                          </p:spTgt>
                                        </p:tgtEl>
                                      </p:cBhvr>
                                    </p:animEffect>
                                    <p:anim calcmode="lin" valueType="num">
                                      <p:cBhvr>
                                        <p:cTn id="78" dur="1000" fill="hold"/>
                                        <p:tgtEl>
                                          <p:spTgt spid="10">
                                            <p:txEl>
                                              <p:pRg st="7" end="7"/>
                                            </p:txEl>
                                          </p:spTgt>
                                        </p:tgtEl>
                                        <p:attrNameLst>
                                          <p:attrName>ppt_x</p:attrName>
                                        </p:attrNameLst>
                                      </p:cBhvr>
                                      <p:tavLst>
                                        <p:tav tm="0">
                                          <p:val>
                                            <p:strVal val="#ppt_x"/>
                                          </p:val>
                                        </p:tav>
                                        <p:tav tm="100000">
                                          <p:val>
                                            <p:strVal val="#ppt_x"/>
                                          </p:val>
                                        </p:tav>
                                      </p:tavLst>
                                    </p:anim>
                                    <p:anim calcmode="lin" valueType="num">
                                      <p:cBhvr>
                                        <p:cTn id="79" dur="1000" fill="hold"/>
                                        <p:tgtEl>
                                          <p:spTgt spid="10">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807163" y="1431692"/>
            <a:ext cx="6395393" cy="2623473"/>
          </a:xfrm>
        </p:spPr>
        <p:txBody>
          <a:bodyPr>
            <a:normAutofit/>
          </a:bodyPr>
          <a:lstStyle/>
          <a:p>
            <a:pPr marL="0" indent="0">
              <a:buNone/>
            </a:pPr>
            <a:r>
              <a:rPr lang="en-US" dirty="0"/>
              <a:t>A one-way ANOVA is used to test whether mean yield differs significantly among the seasons.</a:t>
            </a:r>
          </a:p>
          <a:p>
            <a:pPr lvl="0"/>
            <a:r>
              <a:rPr lang="en-US" b="1" dirty="0"/>
              <a:t>H0:</a:t>
            </a:r>
            <a:r>
              <a:rPr lang="en-US" dirty="0"/>
              <a:t> Mean yield is the same across seasons.</a:t>
            </a:r>
          </a:p>
          <a:p>
            <a:pPr lvl="0"/>
            <a:r>
              <a:rPr lang="en-US" b="1" dirty="0"/>
              <a:t>H1:</a:t>
            </a:r>
            <a:r>
              <a:rPr lang="en-US" dirty="0"/>
              <a:t> At least one season has a different mean yield.</a:t>
            </a:r>
          </a:p>
          <a:p>
            <a:pPr lvl="0"/>
            <a:r>
              <a:rPr lang="en-US" dirty="0"/>
              <a:t>Significance level: 0.05</a:t>
            </a:r>
          </a:p>
          <a:p>
            <a:pPr marL="0" indent="0">
              <a:buNone/>
            </a:pPr>
            <a:endParaRPr lang="en-IN" dirty="0"/>
          </a:p>
        </p:txBody>
      </p:sp>
      <p:pic>
        <p:nvPicPr>
          <p:cNvPr id="3" name="Picture 2">
            <a:extLst>
              <a:ext uri="{FF2B5EF4-FFF2-40B4-BE49-F238E27FC236}">
                <a16:creationId xmlns:a16="http://schemas.microsoft.com/office/drawing/2014/main" id="{29B3532F-05DB-DE53-9A21-7EDBA25BAD9E}"/>
              </a:ext>
            </a:extLst>
          </p:cNvPr>
          <p:cNvPicPr>
            <a:picLocks noChangeAspect="1"/>
          </p:cNvPicPr>
          <p:nvPr/>
        </p:nvPicPr>
        <p:blipFill>
          <a:blip r:embed="rId3"/>
          <a:stretch>
            <a:fillRect/>
          </a:stretch>
        </p:blipFill>
        <p:spPr>
          <a:xfrm>
            <a:off x="320982" y="4521209"/>
            <a:ext cx="10707594" cy="790685"/>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xEl>
                                              <p:pRg st="2" end="2"/>
                                            </p:txEl>
                                          </p:spTgt>
                                        </p:tgtEl>
                                        <p:attrNameLst>
                                          <p:attrName>style.visibility</p:attrName>
                                        </p:attrNameLst>
                                      </p:cBhvr>
                                      <p:to>
                                        <p:strVal val="visible"/>
                                      </p:to>
                                    </p:set>
                                    <p:animEffect transition="in" filter="fade">
                                      <p:cBhvr>
                                        <p:cTn id="42" dur="1000"/>
                                        <p:tgtEl>
                                          <p:spTgt spid="10">
                                            <p:txEl>
                                              <p:pRg st="2" end="2"/>
                                            </p:txEl>
                                          </p:spTgt>
                                        </p:tgtEl>
                                      </p:cBhvr>
                                    </p:animEffect>
                                    <p:anim calcmode="lin" valueType="num">
                                      <p:cBhvr>
                                        <p:cTn id="43"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44"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0">
                                            <p:txEl>
                                              <p:pRg st="3" end="3"/>
                                            </p:txEl>
                                          </p:spTgt>
                                        </p:tgtEl>
                                        <p:attrNameLst>
                                          <p:attrName>style.visibility</p:attrName>
                                        </p:attrNameLst>
                                      </p:cBhvr>
                                      <p:to>
                                        <p:strVal val="visible"/>
                                      </p:to>
                                    </p:set>
                                    <p:animEffect transition="in" filter="fade">
                                      <p:cBhvr>
                                        <p:cTn id="49" dur="1000"/>
                                        <p:tgtEl>
                                          <p:spTgt spid="10">
                                            <p:txEl>
                                              <p:pRg st="3" end="3"/>
                                            </p:txEl>
                                          </p:spTgt>
                                        </p:tgtEl>
                                      </p:cBhvr>
                                    </p:animEffect>
                                    <p:anim calcmode="lin" valueType="num">
                                      <p:cBhvr>
                                        <p:cTn id="50"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51" dur="1000" fill="hold"/>
                                        <p:tgtEl>
                                          <p:spTgt spid="10">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807164" y="1431693"/>
            <a:ext cx="6792958" cy="477520"/>
          </a:xfrm>
        </p:spPr>
        <p:txBody>
          <a:bodyPr/>
          <a:lstStyle/>
          <a:p>
            <a:pPr marL="0" indent="0">
              <a:buNone/>
            </a:pPr>
            <a:r>
              <a:rPr lang="en-US" dirty="0"/>
              <a:t>Water Usage and Yield Relationship in scatter plot</a:t>
            </a:r>
          </a:p>
          <a:p>
            <a:pPr marL="0" indent="0">
              <a:buNone/>
            </a:pPr>
            <a:endParaRPr lang="en-IN" dirty="0"/>
          </a:p>
        </p:txBody>
      </p:sp>
      <p:pic>
        <p:nvPicPr>
          <p:cNvPr id="3" name="Picture 2">
            <a:extLst>
              <a:ext uri="{FF2B5EF4-FFF2-40B4-BE49-F238E27FC236}">
                <a16:creationId xmlns:a16="http://schemas.microsoft.com/office/drawing/2014/main" id="{8ADD99B3-998D-FD6E-CE99-52659C075711}"/>
              </a:ext>
            </a:extLst>
          </p:cNvPr>
          <p:cNvPicPr>
            <a:picLocks noChangeAspect="1"/>
          </p:cNvPicPr>
          <p:nvPr/>
        </p:nvPicPr>
        <p:blipFill>
          <a:blip r:embed="rId3"/>
          <a:stretch>
            <a:fillRect/>
          </a:stretch>
        </p:blipFill>
        <p:spPr>
          <a:xfrm>
            <a:off x="807164" y="2057504"/>
            <a:ext cx="6990017" cy="4414416"/>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807164" y="1431693"/>
            <a:ext cx="4275138" cy="477520"/>
          </a:xfrm>
        </p:spPr>
        <p:txBody>
          <a:bodyPr>
            <a:normAutofit fontScale="92500"/>
          </a:bodyPr>
          <a:lstStyle/>
          <a:p>
            <a:pPr marL="0" indent="0">
              <a:buNone/>
            </a:pPr>
            <a:r>
              <a:rPr lang="en-US" dirty="0"/>
              <a:t>Crop-wise Average Profit</a:t>
            </a:r>
            <a:r>
              <a:rPr lang="en-IN" dirty="0"/>
              <a:t> in Bar Graph</a:t>
            </a:r>
            <a:endParaRPr lang="en-US" dirty="0"/>
          </a:p>
        </p:txBody>
      </p:sp>
      <p:pic>
        <p:nvPicPr>
          <p:cNvPr id="3" name="Picture 2">
            <a:extLst>
              <a:ext uri="{FF2B5EF4-FFF2-40B4-BE49-F238E27FC236}">
                <a16:creationId xmlns:a16="http://schemas.microsoft.com/office/drawing/2014/main" id="{481D7B29-AE55-292C-8CFA-2FF3145F4C5C}"/>
              </a:ext>
            </a:extLst>
          </p:cNvPr>
          <p:cNvPicPr>
            <a:picLocks noChangeAspect="1"/>
          </p:cNvPicPr>
          <p:nvPr/>
        </p:nvPicPr>
        <p:blipFill>
          <a:blip r:embed="rId3"/>
          <a:stretch>
            <a:fillRect/>
          </a:stretch>
        </p:blipFill>
        <p:spPr>
          <a:xfrm>
            <a:off x="1012574" y="2097771"/>
            <a:ext cx="7097758" cy="4378922"/>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807163" y="1431693"/>
            <a:ext cx="6455027" cy="477520"/>
          </a:xfrm>
        </p:spPr>
        <p:txBody>
          <a:bodyPr>
            <a:normAutofit/>
          </a:bodyPr>
          <a:lstStyle/>
          <a:p>
            <a:pPr marL="0" indent="0">
              <a:buNone/>
            </a:pPr>
            <a:r>
              <a:rPr lang="en-US" dirty="0"/>
              <a:t>Disease and Pest Risk by Season in Bar Graph</a:t>
            </a:r>
          </a:p>
          <a:p>
            <a:pPr marL="0" indent="0">
              <a:buNone/>
            </a:pPr>
            <a:endParaRPr lang="en-IN" dirty="0"/>
          </a:p>
        </p:txBody>
      </p:sp>
      <p:pic>
        <p:nvPicPr>
          <p:cNvPr id="3" name="Picture 2">
            <a:extLst>
              <a:ext uri="{FF2B5EF4-FFF2-40B4-BE49-F238E27FC236}">
                <a16:creationId xmlns:a16="http://schemas.microsoft.com/office/drawing/2014/main" id="{EFCDAF4B-C274-E40B-D143-6E50A2C4FC82}"/>
              </a:ext>
            </a:extLst>
          </p:cNvPr>
          <p:cNvPicPr>
            <a:picLocks noChangeAspect="1"/>
          </p:cNvPicPr>
          <p:nvPr/>
        </p:nvPicPr>
        <p:blipFill>
          <a:blip r:embed="rId3"/>
          <a:stretch>
            <a:fillRect/>
          </a:stretch>
        </p:blipFill>
        <p:spPr>
          <a:xfrm>
            <a:off x="730446" y="2065535"/>
            <a:ext cx="6816668" cy="4195747"/>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F1B97637-8F08-DFDC-3743-A5EB39C2B4F4}"/>
              </a:ext>
            </a:extLst>
          </p:cNvPr>
          <p:cNvSpPr txBox="1"/>
          <p:nvPr/>
        </p:nvSpPr>
        <p:spPr>
          <a:xfrm>
            <a:off x="788504" y="1275371"/>
            <a:ext cx="8097079" cy="2949975"/>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dirty="0"/>
              <a:t>Extend the analysis with larger and more diverse agricultural datasets. </a:t>
            </a:r>
          </a:p>
          <a:p>
            <a:pPr marL="285750" indent="-285750">
              <a:lnSpc>
                <a:spcPct val="150000"/>
              </a:lnSpc>
              <a:buFont typeface="Arial" panose="020B0604020202020204" pitchFamily="34" charset="0"/>
              <a:buChar char="•"/>
            </a:pPr>
            <a:r>
              <a:rPr lang="en-US" dirty="0"/>
              <a:t>Build predictive models for seasonal agricultural performance. </a:t>
            </a:r>
          </a:p>
          <a:p>
            <a:pPr marL="285750" indent="-285750">
              <a:lnSpc>
                <a:spcPct val="150000"/>
              </a:lnSpc>
              <a:buFont typeface="Arial" panose="020B0604020202020204" pitchFamily="34" charset="0"/>
              <a:buChar char="•"/>
            </a:pPr>
            <a:r>
              <a:rPr lang="en-US" dirty="0"/>
              <a:t>Add real-time weather and environmental data. </a:t>
            </a:r>
          </a:p>
          <a:p>
            <a:pPr marL="285750" indent="-285750">
              <a:lnSpc>
                <a:spcPct val="150000"/>
              </a:lnSpc>
              <a:buFont typeface="Arial" panose="020B0604020202020204" pitchFamily="34" charset="0"/>
              <a:buChar char="•"/>
            </a:pPr>
            <a:r>
              <a:rPr lang="en-US" dirty="0"/>
              <a:t>Develop interactive dashboards for farmers and planners. </a:t>
            </a:r>
          </a:p>
          <a:p>
            <a:pPr marL="285750" indent="-285750">
              <a:lnSpc>
                <a:spcPct val="150000"/>
              </a:lnSpc>
              <a:buFont typeface="Arial" panose="020B0604020202020204" pitchFamily="34" charset="0"/>
              <a:buChar char="•"/>
            </a:pPr>
            <a:r>
              <a:rPr lang="en-US" dirty="0"/>
              <a:t>Compare additional regions, crops and farming categories.</a:t>
            </a:r>
          </a:p>
          <a:p>
            <a:pPr marL="285750" indent="-285750">
              <a:lnSpc>
                <a:spcPct val="150000"/>
              </a:lnSpc>
              <a:buFont typeface="Arial" panose="020B0604020202020204" pitchFamily="34" charset="0"/>
              <a:buChar char="•"/>
            </a:pPr>
            <a:r>
              <a:rPr lang="en-US" dirty="0"/>
              <a:t>Add automated alerts for unusual seasonal patterns.</a:t>
            </a:r>
          </a:p>
          <a:p>
            <a:pPr marL="285750" indent="-285750">
              <a:lnSpc>
                <a:spcPct val="150000"/>
              </a:lnSpc>
              <a:buFont typeface="Arial" panose="020B0604020202020204" pitchFamily="34" charset="0"/>
              <a:buChar char="•"/>
            </a:pPr>
            <a:r>
              <a:rPr lang="en-US" dirty="0"/>
              <a:t>Use findings to support improved seasonal resource planning</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3394E9E2-BF60-7AEF-C857-B9BB400C90EE}"/>
              </a:ext>
            </a:extLst>
          </p:cNvPr>
          <p:cNvPicPr>
            <a:picLocks noChangeAspect="1"/>
          </p:cNvPicPr>
          <p:nvPr/>
        </p:nvPicPr>
        <p:blipFill>
          <a:blip r:embed="rId3"/>
          <a:stretch>
            <a:fillRect/>
          </a:stretch>
        </p:blipFill>
        <p:spPr>
          <a:xfrm>
            <a:off x="1094626" y="1655243"/>
            <a:ext cx="6502135" cy="4632914"/>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617</TotalTime>
  <Words>460</Words>
  <Application>Microsoft Office PowerPoint</Application>
  <PresentationFormat>Widescreen</PresentationFormat>
  <Paragraphs>57</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Project Title - Seasonal Agriculture Performance Analysis</vt:lpstr>
      <vt:lpstr>PROBLEM  STATEMENT</vt:lpstr>
      <vt:lpstr>Project Description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siddh patel</cp:lastModifiedBy>
  <cp:revision>99</cp:revision>
  <dcterms:created xsi:type="dcterms:W3CDTF">2021-07-11T13:13:15Z</dcterms:created>
  <dcterms:modified xsi:type="dcterms:W3CDTF">2026-09-10T08:22:46Z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